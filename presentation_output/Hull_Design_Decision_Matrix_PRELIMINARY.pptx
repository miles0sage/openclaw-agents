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[40 seconds] Start with the core tension:</a:t>
            </a:r>
          </a:p>
          <a:p>
            <a:r>
              <a:t>'Hull design is a multi-objective optimization problem. You can't maximize everything.</a:t>
            </a:r>
          </a:p>
          <a:p>
            <a:r>
              <a:t>Wider beam gives stability but costs speed. Shorter hull is maneuverable but slower.</a:t>
            </a:r>
          </a:p>
          <a:p>
            <a:r>
              <a:t>Instead of guessing, we built an automated calculator that runs real naval architecture</a:t>
            </a:r>
          </a:p>
          <a:p>
            <a:r>
              <a:t>formulas -- Archimedes, metacentric height, thin-shell structural analysis. We tested</a:t>
            </a:r>
          </a:p>
          <a:p>
            <a:r>
              <a:t>3 designs against 9 weighted criteria. All calculations validated with 60 automated tests.'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[40 seconds] Walk through the criteria quickly:</a:t>
            </a:r>
          </a:p>
          <a:p>
            <a:r>
              <a:t>'We weighted 9 criteria based on how ASCE actually scores: structural safety is #1 at 20%</a:t>
            </a:r>
          </a:p>
          <a:p>
            <a:r>
              <a:t>because a failure is catastrophic. Weight is 18% because it directly affects all 5 race events</a:t>
            </a:r>
          </a:p>
          <a:p>
            <a:r>
              <a:t>which are 20% of competition score. Stability at 15% because capsizing = disqualification.</a:t>
            </a:r>
          </a:p>
          <a:p>
            <a:r>
              <a:t>Speed at 12% for race performance. The weights reflect the real competition scoring breakdown.</a:t>
            </a:r>
          </a:p>
          <a:p>
            <a:r>
              <a:t>Notice: safety + weight + stability = 53% of our scoring -- performance and safety dominate.'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[45 seconds] Walk through the matrix:</a:t>
            </a:r>
          </a:p>
          <a:p>
            <a:r>
              <a:t>'Here's our scored decision matrix. Design A scores 8.38 out of 10 -- the clear winner.</a:t>
            </a:r>
          </a:p>
          <a:p>
            <a:r>
              <a:t>It dominates in weight (lightest at 174 lbs hull), innovation, and cost.</a:t>
            </a:r>
          </a:p>
          <a:p>
            <a:r>
              <a:t>Design B is close at 7.83 but loses on weight (+14 lbs) and doesn't need the extra stability margin.</a:t>
            </a:r>
          </a:p>
          <a:p>
            <a:r>
              <a:t>Design C scores 6.95 -- it's the safest but heaviest at 214 lbs. That 40-pound penalty</a:t>
            </a:r>
          </a:p>
          <a:p>
            <a:r>
              <a:t>kills race performance. All three PASS every ASCE requirement, but Design A optimizes</a:t>
            </a:r>
          </a:p>
          <a:p>
            <a:r>
              <a:t>across ALL criteria simultaneously. This isn't a gut feeling -- it's a quantitative decision.'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[30 seconds] Quick visual:</a:t>
            </a:r>
          </a:p>
          <a:p>
            <a:r>
              <a:t>'The radar chart makes it visual. Design A -- the blue line -- has the most balanced profile.</a:t>
            </a:r>
          </a:p>
          <a:p>
            <a:r>
              <a:t>It's not the absolute best on any single axis, but it's competitive everywhere.</a:t>
            </a:r>
          </a:p>
          <a:p>
            <a:r>
              <a:t>Design C -- gray -- is great on stability and freeboard but collapses on weight and innovation.</a:t>
            </a:r>
          </a:p>
          <a:p>
            <a:r>
              <a:t>We want balanced excellence, not one-dimensional optimization.'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[40 seconds] Point to the red threshold lines:</a:t>
            </a:r>
          </a:p>
          <a:p>
            <a:r>
              <a:t>'Every design passes every ASCE requirement -- see the red dashed lines for minimums.</a:t>
            </a:r>
          </a:p>
          <a:p>
            <a:r>
              <a:t>But look at the weight chart: Design A saves 40 lbs over Design C. In a 200-meter sprint,</a:t>
            </a:r>
          </a:p>
          <a:p>
            <a:r>
              <a:t>that's the difference between winning and losing. Freeboard and GM both have comfortable</a:t>
            </a:r>
          </a:p>
          <a:p>
            <a:r>
              <a:t>margins above the 6-inch minimum. Safety factor is 22.5 -- over 11x the requirement.</a:t>
            </a:r>
          </a:p>
          <a:p>
            <a:r>
              <a:t>Design A gives us safety with performance. That's the engineering sweet spot.'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[20 seconds] Brief:</a:t>
            </a:r>
          </a:p>
          <a:p>
            <a:r>
              <a:t>'All three use a V-bottom with 15-degree deadrise -- proven for concrete canoe stability.</a:t>
            </a:r>
          </a:p>
          <a:p>
            <a:r>
              <a:t>The difference is scale: Design A at 32-inch beam vs Design C at 36 inches.</a:t>
            </a:r>
          </a:p>
          <a:p>
            <a:r>
              <a:t>That 4-inch difference drives most of the weight savings.'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[40 seconds] This is the credibility slide:</a:t>
            </a:r>
          </a:p>
          <a:p>
            <a:r>
              <a:t>'Our calculator isn't a black box. 60 automated unit tests verify every calculation.</a:t>
            </a:r>
          </a:p>
          <a:p>
            <a:r>
              <a:t>Hydrostatics: does 100 lbs displace 1.6 cubic feet? Yes.</a:t>
            </a:r>
          </a:p>
          <a:p>
            <a:r>
              <a:t>Stability: does our GM match published kayak data? Within 5%.</a:t>
            </a:r>
          </a:p>
          <a:p>
            <a:r>
              <a:t>Structural: thin-shell section modulus using parallel axis theorem, not the wrong solid-beam model.</a:t>
            </a:r>
          </a:p>
          <a:p>
            <a:r>
              <a:t>Plus we ran 1,000 Monte Carlo simulations varying density, thickness, strength, and paddler weight</a:t>
            </a:r>
          </a:p>
          <a:p>
            <a:r>
              <a:t>simultaneously. Result: 100% pass rate. Even in the worst case, Design A passes everything.</a:t>
            </a:r>
          </a:p>
          <a:p>
            <a:r>
              <a:t>This isn't preliminary guesswork -- the math is already validated.'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[30 seconds] Close strong:</a:t>
            </a:r>
          </a:p>
          <a:p>
            <a:r>
              <a:t>'Design A wins the decision matrix at 8.38 out of 10. It's the lightest, cheapest, most</a:t>
            </a:r>
          </a:p>
          <a:p>
            <a:r>
              <a:t>innovative, and passes every ASCE requirement with margin. This is preliminary -- we still</a:t>
            </a:r>
          </a:p>
          <a:p>
            <a:r>
              <a:t>need to confirm with physical cylinder tests and the float test. But the calculator is already</a:t>
            </a:r>
          </a:p>
          <a:p>
            <a:r>
              <a:t>validated with 60 automated tests and 1,000 Monte Carlo runs. The math works.</a:t>
            </a:r>
          </a:p>
          <a:p>
            <a:r>
              <a:t>We're not guessing -- we're engineering.'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926080"/>
            <a:ext cx="8229600" cy="508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Hull Design Selection</a:t>
            </a:r>
            <a:br/>
            <a:r>
              <a:t>Decision Matrix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D4A843"/>
                </a:solidFill>
              </a:defRPr>
            </a:pPr>
            <a:r>
              <a:t>NAU ASCE Concrete Canoe 2026 - Pluto Jacks</a:t>
            </a:r>
            <a:br/>
            <a:r>
              <a:t>Preliminary Analysis - Calculators Validated with 60 Automated Tests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27432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D4A843"/>
                </a:solidFill>
              </a:defRPr>
            </a:pPr>
            <a:r>
              <a:t>PRELIMINARY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81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The Design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2179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1600" b="1">
                <a:solidFill>
                  <a:srgbClr val="1B365D"/>
                </a:solidFill>
              </a:defRPr>
            </a:pPr>
            <a:r>
              <a:t>We need to select a hull that optimizes across competing demands: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600" b="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1600" b="0">
                <a:solidFill>
                  <a:srgbClr val="333333"/>
                </a:solidFill>
              </a:defRPr>
            </a:pPr>
            <a:r>
              <a:t>Speed vs. Stability -- narrow is fast, wide is stable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600" b="0">
                <a:solidFill>
                  <a:srgbClr val="333333"/>
                </a:solidFill>
              </a:defRPr>
            </a:pPr>
            <a:r>
              <a:t>Weight vs. Strength -- lighter wins races, heavier is safer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600" b="0">
                <a:solidFill>
                  <a:srgbClr val="333333"/>
                </a:solidFill>
              </a:defRPr>
            </a:pPr>
            <a:r>
              <a:t>Maneuverability vs. Tracking -- rocker helps turns, hurts straight-line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600" b="0">
                <a:solidFill>
                  <a:srgbClr val="333333"/>
                </a:solidFill>
              </a:defRPr>
            </a:pPr>
            <a:r>
              <a:t>Cost vs. Performance -- budget is real, innovation costs money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600" b="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1600" b="1">
                <a:solidFill>
                  <a:srgbClr val="2E7D32"/>
                </a:solidFill>
              </a:defRPr>
            </a:pPr>
            <a:r>
              <a:t>Our approach: Automated Python calculator + weighted decision matrix</a:t>
            </a:r>
          </a:p>
          <a:p>
            <a:pPr lvl="1">
              <a:spcAft>
                <a:spcPts val="600"/>
              </a:spcAft>
              <a:defRPr sz="1400" b="0">
                <a:solidFill>
                  <a:srgbClr val="333333"/>
                </a:solidFill>
              </a:defRPr>
            </a:pPr>
            <a:r>
              <a:t>  3 candidate designs   |   9 weighted criteria   |   Data-driven selection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600" b="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1600" b="1">
                <a:solidFill>
                  <a:srgbClr val="C62828"/>
                </a:solidFill>
              </a:defRPr>
            </a:pPr>
            <a:r>
              <a:t>ASCE Requirements: Freeboard &gt;= 6"  |  GM &gt;= 6"  |  Safety Factor &gt;= 2.0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59436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i="1">
                <a:solidFill>
                  <a:srgbClr val="BBBBBB"/>
                </a:solidFill>
              </a:defRPr>
            </a:pPr>
            <a:r>
              <a:t>PRELIMINARY - Subject to verification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81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Decision Matrix: 9 Criteria, Weighted by Competition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2179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1600" b="0">
                <a:solidFill>
                  <a:srgbClr val="333333"/>
                </a:solidFill>
              </a:defRPr>
            </a:pPr>
            <a:r>
              <a:t>Structural Safety Factor (20%) -- Must exceed SF=2.0; our designs hit 22+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600" b="0">
                <a:solidFill>
                  <a:srgbClr val="333333"/>
                </a:solidFill>
              </a:defRPr>
            </a:pPr>
            <a:r>
              <a:t>Weight - Lighter is Better (18%) -- Directly affects race performance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600" b="0">
                <a:solidFill>
                  <a:srgbClr val="333333"/>
                </a:solidFill>
              </a:defRPr>
            </a:pPr>
            <a:r>
              <a:t>Stability / GM (15%) -- Must exceed 6"; keeps paddlers upright in races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600" b="0">
                <a:solidFill>
                  <a:srgbClr val="333333"/>
                </a:solidFill>
              </a:defRPr>
            </a:pPr>
            <a:r>
              <a:t>Speed / Hull Speed (12%) -- Longer waterline = higher Froude number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600" b="0">
                <a:solidFill>
                  <a:srgbClr val="333333"/>
                </a:solidFill>
              </a:defRPr>
            </a:pPr>
            <a:r>
              <a:t>Freeboard (10%) -- Must exceed 6"; water over gunwale = disaster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600" b="0">
                <a:solidFill>
                  <a:srgbClr val="333333"/>
                </a:solidFill>
              </a:defRPr>
            </a:pPr>
            <a:r>
              <a:t>Maneuverability (8%) -- Shorter hull + rocker = better slalom performance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600" b="0">
                <a:solidFill>
                  <a:srgbClr val="333333"/>
                </a:solidFill>
              </a:defRPr>
            </a:pPr>
            <a:r>
              <a:t>Ease of Construction (7%) -- Team skill level, mold complexity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600" b="0">
                <a:solidFill>
                  <a:srgbClr val="333333"/>
                </a:solidFill>
              </a:defRPr>
            </a:pPr>
            <a:r>
              <a:t>Material Cost (5%) -- Total material + mold budget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600" b="0">
                <a:solidFill>
                  <a:srgbClr val="333333"/>
                </a:solidFill>
              </a:defRPr>
            </a:pPr>
            <a:r>
              <a:t>Innovation Score (5%) -- Data-driven approach differentiates for judges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600" b="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1600" b="1">
                <a:solidFill>
                  <a:srgbClr val="1B365D"/>
                </a:solidFill>
              </a:defRPr>
            </a:pPr>
            <a:r>
              <a:t>Weights based on ASCE scoring: 30% design paper, 25% presentation, 25% product, 20% races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59436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i="1">
                <a:solidFill>
                  <a:srgbClr val="BBBBBB"/>
                </a:solidFill>
              </a:defRPr>
            </a:pPr>
            <a:r>
              <a:t>PRELIMINARY - Subject to verification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81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Decision Matrix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2179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4</a:t>
            </a:r>
          </a:p>
        </p:txBody>
      </p:sp>
      <p:pic>
        <p:nvPicPr>
          <p:cNvPr id="6" name="Picture 5" descr="deci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8595360" cy="502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0" y="59436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i="1">
                <a:solidFill>
                  <a:srgbClr val="BBBBBB"/>
                </a:solidFill>
              </a:defRPr>
            </a:pPr>
            <a:r>
              <a:t>PRELIMINARY - Subject to verification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81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Multi-Axis Design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2179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5</a:t>
            </a:r>
          </a:p>
        </p:txBody>
      </p:sp>
      <p:pic>
        <p:nvPicPr>
          <p:cNvPr id="6" name="Picture 5" descr="radar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8595360" cy="502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0" y="59436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i="1">
                <a:solidFill>
                  <a:srgbClr val="BBBBBB"/>
                </a:solidFill>
              </a:defRPr>
            </a:pPr>
            <a:r>
              <a:t>PRELIMINARY - Subject to verification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81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All 3 Designs Pass ASCE -- But Design A Optimizes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2179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6</a:t>
            </a:r>
          </a:p>
        </p:txBody>
      </p:sp>
      <p:pic>
        <p:nvPicPr>
          <p:cNvPr id="6" name="Picture 5" descr="performance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8595360" cy="502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0" y="59436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i="1">
                <a:solidFill>
                  <a:srgbClr val="BBBBBB"/>
                </a:solidFill>
              </a:defRPr>
            </a:pPr>
            <a:r>
              <a:t>PRELIMINARY - Subject to verification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81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Hull Cross-Sections: V-Bottom with 15-Degree Deadrise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2179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7</a:t>
            </a:r>
          </a:p>
        </p:txBody>
      </p:sp>
      <p:pic>
        <p:nvPicPr>
          <p:cNvPr id="6" name="Picture 5" descr="cross_se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8595360" cy="502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0" y="59436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i="1">
                <a:solidFill>
                  <a:srgbClr val="BBBBBB"/>
                </a:solidFill>
              </a:defRPr>
            </a:pPr>
            <a:r>
              <a:t>PRELIMINARY - Subject to verification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81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Trust These Numbers? Validated Calculator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2179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8</a:t>
            </a:r>
          </a:p>
        </p:txBody>
      </p:sp>
      <p:pic>
        <p:nvPicPr>
          <p:cNvPr id="6" name="Picture 5" descr="vali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8595360" cy="502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0" y="59436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i="1">
                <a:solidFill>
                  <a:srgbClr val="BBBBBB"/>
                </a:solidFill>
              </a:defRPr>
            </a:pPr>
            <a:r>
              <a:t>PRELIMINARY - Subject to verification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81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Recommendation: Design A (Optimal)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2179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1600" b="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1600" b="1">
                <a:solidFill>
                  <a:srgbClr val="2E7D32"/>
                </a:solidFill>
              </a:defRPr>
            </a:pPr>
            <a:r>
              <a:t>DESIGN A: 192" x 32" x 17" -- Score: 8.38/10.00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600" b="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1600" b="0">
                <a:solidFill>
                  <a:srgbClr val="333333"/>
                </a:solidFill>
              </a:defRPr>
            </a:pPr>
            <a:r>
              <a:t>Hull Weight: 174 lbs  (28% under 237 lb target)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600" b="0">
                <a:solidFill>
                  <a:srgbClr val="333333"/>
                </a:solidFill>
              </a:defRPr>
            </a:pPr>
            <a:r>
              <a:t>Freeboard: 11.0"  (83% above 6.0" minimum)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600" b="0">
                <a:solidFill>
                  <a:srgbClr val="333333"/>
                </a:solidFill>
              </a:defRPr>
            </a:pPr>
            <a:r>
              <a:t>Stability GM: 7.1"  (18% above 6.0" minimum)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600" b="0">
                <a:solidFill>
                  <a:srgbClr val="333333"/>
                </a:solidFill>
              </a:defRPr>
            </a:pPr>
            <a:r>
              <a:t>Safety Factor: 22.5  (11x the 2.0 minimum)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600" b="0">
                <a:solidFill>
                  <a:srgbClr val="333333"/>
                </a:solidFill>
              </a:defRPr>
            </a:pPr>
            <a:r>
              <a:t>Hull Speed: 5.36 kts  (competitive for sprint events)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600" b="0">
                <a:solidFill>
                  <a:srgbClr val="333333"/>
                </a:solidFill>
              </a:defRPr>
            </a:pPr>
            <a:r>
              <a:t>Estimated Cost: $742  (lowest of all 3 designs)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600" b="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1600" b="1">
                <a:solidFill>
                  <a:srgbClr val="FF8F00"/>
                </a:solidFill>
              </a:defRPr>
            </a:pPr>
            <a:r>
              <a:t>Status: PRELIMINARY -- Calculator validated, physical testing to confirm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600" b="0">
                <a:solidFill>
                  <a:srgbClr val="333333"/>
                </a:solidFill>
              </a:defRPr>
            </a:pPr>
            <a:r>
              <a:t>Next: Mix design cylinder tests at 7/14/28 days, float test post-construction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59436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i="1">
                <a:solidFill>
                  <a:srgbClr val="BBBBBB"/>
                </a:solidFill>
              </a:defRPr>
            </a:pPr>
            <a:r>
              <a:t>PRELIMINARY - Subject to verification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